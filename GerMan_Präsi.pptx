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notes format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&lt;header&gt;</a:t>
            </a: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&lt;date/time&gt;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r">
              <a:buNone/>
            </a:pPr>
            <a:fld id="{98BA475F-695B-494C-BE0D-9DA66A5AF787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‹Nr.›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Kurze Vorstellung: Was ist das Projekt? Warum eine Hardware-Datenbank?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C4C0C9-E42C-4E79-9A7C-F5EBCFECCF4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Kurz erklären was das Projekt macht und welche Technologien genutzt wurden.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D4F4F5-C281-4226-90C8-82BEEDB2CB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Zwei Tabellen: Standort und Gerät. FOREIGN KEY verbindet beide.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6BC5E5-DDFE-4BC0-B38F-92AB07E8C3F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Validierung verhindert fehlerhafte Daten. Regex für IP und MAC kurz erklären.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31961F-0F85-425A-97EE-8746C500D18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Erkläre kurz match/case als Struktur hinter den 5 Optionen.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1257BA-1D1F-4AD2-8307-243F6DF8EA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Ruhig vorgehen, Schritte laut kommentieren. Vorher 2-3x üben!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B5503A-E681-4EBC-863C-7842543DB34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Ehrlich berichten was schwierig war. Zeigt Reflexion.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841851-690E-4F84-BA90-77FF8A8AD36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Ehrlich berichten was schwierig war. Zeigt Reflexion.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F1085C-DE86-4E88-A543-C0B69C22116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Ehrlich berichten was schwierig war. Zeigt Reflexion.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DAC31B-2C25-4158-8054-E37FE613EE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Kurzes Fazit. Ausblick zeigt Erweiterbarkeit. Fragen einladen.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2BB209-0413-4095-A467-1E64B6B82A1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de-DE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/>
          <p:cNvSpPr/>
          <p:nvPr/>
        </p:nvSpPr>
        <p:spPr>
          <a:xfrm>
            <a:off x="731520" y="1463040"/>
            <a:ext cx="76806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GerMan</a:t>
            </a:r>
            <a:endParaRPr lang="de-DE" sz="4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3" name="Text 1"/>
          <p:cNvSpPr/>
          <p:nvPr/>
        </p:nvSpPr>
        <p:spPr>
          <a:xfrm>
            <a:off x="731520" y="2743200"/>
            <a:ext cx="76806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8EEF7"/>
                </a:solidFill>
                <a:effectLst/>
                <a:uFillTx/>
                <a:latin typeface="Calibri"/>
                <a:ea typeface="Calibri"/>
              </a:rPr>
              <a:t>Geräte Manger</a:t>
            </a:r>
            <a:endParaRPr lang="de-DE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8EEF7"/>
                </a:solidFill>
                <a:effectLst/>
                <a:uFillTx/>
                <a:latin typeface="Calibri"/>
                <a:ea typeface="Calibri"/>
              </a:rPr>
              <a:t>mit Python &amp; SQLite</a:t>
            </a:r>
            <a:endParaRPr lang="de-DE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4" name="Text 2"/>
          <p:cNvSpPr/>
          <p:nvPr/>
        </p:nvSpPr>
        <p:spPr>
          <a:xfrm>
            <a:off x="731520" y="4389120"/>
            <a:ext cx="7680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7"/>
                </a:solidFill>
                <a:effectLst/>
                <a:uFillTx/>
                <a:latin typeface="Calibri"/>
                <a:ea typeface="Calibri"/>
              </a:rPr>
              <a:t>Adrian – Eliano - Daniel</a:t>
            </a:r>
            <a:endParaRPr lang="de-DE" sz="1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548640" y="32004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Projektübersicht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548640" y="1005840"/>
            <a:ext cx="8046720" cy="360"/>
          </a:xfrm>
          <a:prstGeom prst="line">
            <a:avLst/>
          </a:prstGeom>
          <a:ln w="25560">
            <a:solidFill>
              <a:srgbClr val="4A90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7" name="Shape 2"/>
          <p:cNvSpPr/>
          <p:nvPr/>
        </p:nvSpPr>
        <p:spPr>
          <a:xfrm>
            <a:off x="457200" y="1188720"/>
            <a:ext cx="2605680" cy="35658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600">
            <a:solidFill>
              <a:srgbClr val="DADC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8" name="Shape 3"/>
          <p:cNvSpPr/>
          <p:nvPr/>
        </p:nvSpPr>
        <p:spPr>
          <a:xfrm>
            <a:off x="457200" y="1188720"/>
            <a:ext cx="2605680" cy="502560"/>
          </a:xfrm>
          <a:prstGeom prst="roundRect">
            <a:avLst>
              <a:gd name="adj" fmla="val 18182"/>
            </a:avLst>
          </a:prstGeom>
          <a:solidFill>
            <a:srgbClr val="4A90D9"/>
          </a:solidFill>
          <a:ln w="12600">
            <a:solidFill>
              <a:srgbClr val="4A90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9" name="Text 4"/>
          <p:cNvSpPr/>
          <p:nvPr/>
        </p:nvSpPr>
        <p:spPr>
          <a:xfrm>
            <a:off x="457200" y="1188720"/>
            <a:ext cx="2605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Ziel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" name="Text 5"/>
          <p:cNvSpPr/>
          <p:nvPr/>
        </p:nvSpPr>
        <p:spPr>
          <a:xfrm>
            <a:off x="594360" y="1828800"/>
            <a:ext cx="233136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Zentrale Verwaltung von Hardware und Standorten in einer Lokalen Datenbank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" name="Shape 6"/>
          <p:cNvSpPr/>
          <p:nvPr/>
        </p:nvSpPr>
        <p:spPr>
          <a:xfrm>
            <a:off x="3291840" y="1188720"/>
            <a:ext cx="2605680" cy="35658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600">
            <a:solidFill>
              <a:srgbClr val="DADC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2" name="Shape 7"/>
          <p:cNvSpPr/>
          <p:nvPr/>
        </p:nvSpPr>
        <p:spPr>
          <a:xfrm>
            <a:off x="3291840" y="1188720"/>
            <a:ext cx="2605680" cy="502560"/>
          </a:xfrm>
          <a:prstGeom prst="roundRect">
            <a:avLst>
              <a:gd name="adj" fmla="val 18182"/>
            </a:avLst>
          </a:prstGeom>
          <a:solidFill>
            <a:srgbClr val="4A90D9"/>
          </a:solidFill>
          <a:ln w="12600">
            <a:solidFill>
              <a:srgbClr val="4A90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3" name="Text 8"/>
          <p:cNvSpPr/>
          <p:nvPr/>
        </p:nvSpPr>
        <p:spPr>
          <a:xfrm>
            <a:off x="3291840" y="1188720"/>
            <a:ext cx="2605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Technologien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" name="Text 9"/>
          <p:cNvSpPr/>
          <p:nvPr/>
        </p:nvSpPr>
        <p:spPr>
          <a:xfrm>
            <a:off x="3429000" y="1828800"/>
            <a:ext cx="233136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Python – SQLite - RegEx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5" name="Shape 10"/>
          <p:cNvSpPr/>
          <p:nvPr/>
        </p:nvSpPr>
        <p:spPr>
          <a:xfrm>
            <a:off x="6126480" y="1188720"/>
            <a:ext cx="2605680" cy="35658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600">
            <a:solidFill>
              <a:srgbClr val="DADC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6" name="Shape 11"/>
          <p:cNvSpPr/>
          <p:nvPr/>
        </p:nvSpPr>
        <p:spPr>
          <a:xfrm>
            <a:off x="6126480" y="1188720"/>
            <a:ext cx="2605680" cy="502560"/>
          </a:xfrm>
          <a:prstGeom prst="roundRect">
            <a:avLst>
              <a:gd name="adj" fmla="val 18182"/>
            </a:avLst>
          </a:prstGeom>
          <a:solidFill>
            <a:srgbClr val="4A90D9"/>
          </a:solidFill>
          <a:ln w="12600">
            <a:solidFill>
              <a:srgbClr val="4A90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7" name="Text 12"/>
          <p:cNvSpPr/>
          <p:nvPr/>
        </p:nvSpPr>
        <p:spPr>
          <a:xfrm>
            <a:off x="6126480" y="1188720"/>
            <a:ext cx="2605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Funktionen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8" name="Text 13"/>
          <p:cNvSpPr/>
          <p:nvPr/>
        </p:nvSpPr>
        <p:spPr>
          <a:xfrm>
            <a:off x="6263640" y="1828800"/>
            <a:ext cx="233136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Hinzufügen – Anzeigen – Suchen – Bearbeiten - Löschen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fik 28"/>
          <p:cNvPicPr/>
          <p:nvPr/>
        </p:nvPicPr>
        <p:blipFill>
          <a:blip r:embed="rId3"/>
          <a:stretch/>
        </p:blipFill>
        <p:spPr>
          <a:xfrm>
            <a:off x="180000" y="1260000"/>
            <a:ext cx="8820000" cy="325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Text 0"/>
          <p:cNvSpPr/>
          <p:nvPr/>
        </p:nvSpPr>
        <p:spPr>
          <a:xfrm>
            <a:off x="548640" y="32004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Datenbankstruktur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1" name="Shape 1"/>
          <p:cNvSpPr/>
          <p:nvPr/>
        </p:nvSpPr>
        <p:spPr>
          <a:xfrm>
            <a:off x="548640" y="1005840"/>
            <a:ext cx="8046720" cy="360"/>
          </a:xfrm>
          <a:prstGeom prst="line">
            <a:avLst/>
          </a:prstGeom>
          <a:ln w="25560">
            <a:solidFill>
              <a:srgbClr val="4A90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4" name="Textfeld 33"/>
          <p:cNvSpPr txBox="1"/>
          <p:nvPr/>
        </p:nvSpPr>
        <p:spPr>
          <a:xfrm>
            <a:off x="5760000" y="2838600"/>
            <a:ext cx="360000" cy="401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de-DE" sz="1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1</a:t>
            </a:r>
          </a:p>
        </p:txBody>
      </p:sp>
      <p:sp>
        <p:nvSpPr>
          <p:cNvPr id="35" name="Textfeld 34"/>
          <p:cNvSpPr txBox="1"/>
          <p:nvPr/>
        </p:nvSpPr>
        <p:spPr>
          <a:xfrm>
            <a:off x="3060000" y="2838600"/>
            <a:ext cx="360000" cy="401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de-DE" sz="1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/>
          <p:nvPr/>
        </p:nvSpPr>
        <p:spPr>
          <a:xfrm>
            <a:off x="548640" y="32004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Eingabevalidierung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7" name="Shape 1"/>
          <p:cNvSpPr/>
          <p:nvPr/>
        </p:nvSpPr>
        <p:spPr>
          <a:xfrm>
            <a:off x="548640" y="1005840"/>
            <a:ext cx="8046720" cy="360"/>
          </a:xfrm>
          <a:prstGeom prst="line">
            <a:avLst/>
          </a:prstGeom>
          <a:ln w="25560">
            <a:solidFill>
              <a:srgbClr val="4A90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8" name="Shape 2"/>
          <p:cNvSpPr/>
          <p:nvPr/>
        </p:nvSpPr>
        <p:spPr>
          <a:xfrm>
            <a:off x="457200" y="1143000"/>
            <a:ext cx="8229240" cy="51912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600">
            <a:solidFill>
              <a:srgbClr val="DADC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9" name="Shape 3"/>
          <p:cNvSpPr/>
          <p:nvPr/>
        </p:nvSpPr>
        <p:spPr>
          <a:xfrm>
            <a:off x="457200" y="1143000"/>
            <a:ext cx="2102760" cy="519120"/>
          </a:xfrm>
          <a:prstGeom prst="roundRect">
            <a:avLst>
              <a:gd name="adj" fmla="val 9756"/>
            </a:avLst>
          </a:prstGeom>
          <a:solidFill>
            <a:srgbClr val="E8EEF7"/>
          </a:solidFill>
          <a:ln w="12600">
            <a:solidFill>
              <a:srgbClr val="E8EE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0" name="Text 4"/>
          <p:cNvSpPr/>
          <p:nvPr/>
        </p:nvSpPr>
        <p:spPr>
          <a:xfrm>
            <a:off x="457200" y="1143000"/>
            <a:ext cx="2102760" cy="51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pflichtfeld()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1" name="Text 5"/>
          <p:cNvSpPr/>
          <p:nvPr/>
        </p:nvSpPr>
        <p:spPr>
          <a:xfrm>
            <a:off x="2743200" y="1143000"/>
            <a:ext cx="5760360" cy="51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Schleife fragt solange bis die Eingabe nicht leer ist.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2" name="Shape 6"/>
          <p:cNvSpPr/>
          <p:nvPr/>
        </p:nvSpPr>
        <p:spPr>
          <a:xfrm>
            <a:off x="457200" y="1763280"/>
            <a:ext cx="8229240" cy="51912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600">
            <a:solidFill>
              <a:srgbClr val="DADC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3" name="Shape 7"/>
          <p:cNvSpPr/>
          <p:nvPr/>
        </p:nvSpPr>
        <p:spPr>
          <a:xfrm>
            <a:off x="457200" y="1763280"/>
            <a:ext cx="2102760" cy="519120"/>
          </a:xfrm>
          <a:prstGeom prst="roundRect">
            <a:avLst>
              <a:gd name="adj" fmla="val 9756"/>
            </a:avLst>
          </a:prstGeom>
          <a:solidFill>
            <a:srgbClr val="E8EEF7"/>
          </a:solidFill>
          <a:ln w="12600">
            <a:solidFill>
              <a:srgbClr val="E8EE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4" name="Text 8"/>
          <p:cNvSpPr/>
          <p:nvPr/>
        </p:nvSpPr>
        <p:spPr>
          <a:xfrm>
            <a:off x="457200" y="1763280"/>
            <a:ext cx="2102760" cy="51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ipEingabe()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5" name="Text 9"/>
          <p:cNvSpPr/>
          <p:nvPr/>
        </p:nvSpPr>
        <p:spPr>
          <a:xfrm>
            <a:off x="2743200" y="1763280"/>
            <a:ext cx="5760360" cy="51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Regex-Muster - jede Zahl muss im Ipv4 Format sein.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6" name="Shape 10"/>
          <p:cNvSpPr/>
          <p:nvPr/>
        </p:nvSpPr>
        <p:spPr>
          <a:xfrm>
            <a:off x="457200" y="2383920"/>
            <a:ext cx="8229240" cy="51876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600">
            <a:solidFill>
              <a:srgbClr val="DADC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7" name="Shape 11"/>
          <p:cNvSpPr/>
          <p:nvPr/>
        </p:nvSpPr>
        <p:spPr>
          <a:xfrm>
            <a:off x="457200" y="2383920"/>
            <a:ext cx="2102760" cy="518760"/>
          </a:xfrm>
          <a:prstGeom prst="roundRect">
            <a:avLst>
              <a:gd name="adj" fmla="val 9756"/>
            </a:avLst>
          </a:prstGeom>
          <a:solidFill>
            <a:srgbClr val="E8EEF7"/>
          </a:solidFill>
          <a:ln w="12600">
            <a:solidFill>
              <a:srgbClr val="E8EE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8" name="Text 12"/>
          <p:cNvSpPr/>
          <p:nvPr/>
        </p:nvSpPr>
        <p:spPr>
          <a:xfrm>
            <a:off x="457200" y="2383920"/>
            <a:ext cx="2102760" cy="51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macEingabe()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9" name="Text 13"/>
          <p:cNvSpPr/>
          <p:nvPr/>
        </p:nvSpPr>
        <p:spPr>
          <a:xfrm>
            <a:off x="2743200" y="2383920"/>
            <a:ext cx="5760360" cy="51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Format AA:BB:CC:DD:EE:FF - nur “:” als Trennzeichen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0" name="Shape 14"/>
          <p:cNvSpPr/>
          <p:nvPr/>
        </p:nvSpPr>
        <p:spPr>
          <a:xfrm>
            <a:off x="457200" y="3004560"/>
            <a:ext cx="8229240" cy="51912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600">
            <a:solidFill>
              <a:srgbClr val="DADC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1" name="Shape 15"/>
          <p:cNvSpPr/>
          <p:nvPr/>
        </p:nvSpPr>
        <p:spPr>
          <a:xfrm>
            <a:off x="457200" y="3004560"/>
            <a:ext cx="2102760" cy="519120"/>
          </a:xfrm>
          <a:prstGeom prst="roundRect">
            <a:avLst>
              <a:gd name="adj" fmla="val 9756"/>
            </a:avLst>
          </a:prstGeom>
          <a:solidFill>
            <a:srgbClr val="E8EEF7"/>
          </a:solidFill>
          <a:ln w="12600">
            <a:solidFill>
              <a:srgbClr val="E8EE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2" name="Text 16"/>
          <p:cNvSpPr/>
          <p:nvPr/>
        </p:nvSpPr>
        <p:spPr>
          <a:xfrm>
            <a:off x="457200" y="3004560"/>
            <a:ext cx="2102760" cy="51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statusEingabe()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3" name="Text 17"/>
          <p:cNvSpPr/>
          <p:nvPr/>
        </p:nvSpPr>
        <p:spPr>
          <a:xfrm>
            <a:off x="2743200" y="3004560"/>
            <a:ext cx="5760360" cy="51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Nur eine Auswahl möglich: Aktiv  /  Defekt  /  Ausgemustert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4" name="Shape 4"/>
          <p:cNvSpPr/>
          <p:nvPr/>
        </p:nvSpPr>
        <p:spPr>
          <a:xfrm>
            <a:off x="449640" y="3620880"/>
            <a:ext cx="8229240" cy="51912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600">
            <a:solidFill>
              <a:srgbClr val="DADC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5" name="Shape 9"/>
          <p:cNvSpPr/>
          <p:nvPr/>
        </p:nvSpPr>
        <p:spPr>
          <a:xfrm>
            <a:off x="449640" y="3620880"/>
            <a:ext cx="2102760" cy="519120"/>
          </a:xfrm>
          <a:prstGeom prst="roundRect">
            <a:avLst>
              <a:gd name="adj" fmla="val 9756"/>
            </a:avLst>
          </a:prstGeom>
          <a:solidFill>
            <a:srgbClr val="E8EEF7"/>
          </a:solidFill>
          <a:ln w="12600">
            <a:solidFill>
              <a:srgbClr val="E8EE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6" name="Text 22"/>
          <p:cNvSpPr/>
          <p:nvPr/>
        </p:nvSpPr>
        <p:spPr>
          <a:xfrm>
            <a:off x="449640" y="3620880"/>
            <a:ext cx="2102760" cy="51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setzeKategorie()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7" name="Text 23"/>
          <p:cNvSpPr/>
          <p:nvPr/>
        </p:nvSpPr>
        <p:spPr>
          <a:xfrm>
            <a:off x="2735640" y="3620880"/>
            <a:ext cx="5760360" cy="51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Gibt nur bestimmte Hardware Kategorien als Auswahlmöglichkeiten.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8" name="Textfeld 57"/>
          <p:cNvSpPr txBox="1"/>
          <p:nvPr/>
        </p:nvSpPr>
        <p:spPr>
          <a:xfrm>
            <a:off x="540000" y="4320000"/>
            <a:ext cx="8100000" cy="54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de-DE" sz="1200" b="0" u="none" strike="noStrike">
                <a:solidFill>
                  <a:srgbClr val="2C3E6B"/>
                </a:solidFill>
                <a:effectLst/>
                <a:uFillTx/>
                <a:latin typeface="Calibri"/>
              </a:rPr>
              <a:t>Diese Funktionen sind Modular und können deshalb einfach bearbeitet und bei bedarf erweitert werden.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/>
          <p:nvPr/>
        </p:nvSpPr>
        <p:spPr>
          <a:xfrm>
            <a:off x="548640" y="32004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Funktionen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0" name="Shape 1"/>
          <p:cNvSpPr/>
          <p:nvPr/>
        </p:nvSpPr>
        <p:spPr>
          <a:xfrm>
            <a:off x="548640" y="1005840"/>
            <a:ext cx="8046720" cy="360"/>
          </a:xfrm>
          <a:prstGeom prst="line">
            <a:avLst/>
          </a:prstGeom>
          <a:ln w="25560">
            <a:solidFill>
              <a:srgbClr val="4A90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1" name="Shape 2"/>
          <p:cNvSpPr/>
          <p:nvPr/>
        </p:nvSpPr>
        <p:spPr>
          <a:xfrm>
            <a:off x="411480" y="1188720"/>
            <a:ext cx="1508400" cy="35658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600">
            <a:solidFill>
              <a:srgbClr val="DADC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2" name="Shape 3"/>
          <p:cNvSpPr/>
          <p:nvPr/>
        </p:nvSpPr>
        <p:spPr>
          <a:xfrm>
            <a:off x="822960" y="1371600"/>
            <a:ext cx="685440" cy="685440"/>
          </a:xfrm>
          <a:prstGeom prst="ellipse">
            <a:avLst/>
          </a:prstGeom>
          <a:solidFill>
            <a:srgbClr val="4A90D9"/>
          </a:solidFill>
          <a:ln w="12600">
            <a:solidFill>
              <a:srgbClr val="4A90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63" name="Text 4"/>
          <p:cNvSpPr/>
          <p:nvPr/>
        </p:nvSpPr>
        <p:spPr>
          <a:xfrm>
            <a:off x="822960" y="137160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4" name="Text 5"/>
          <p:cNvSpPr/>
          <p:nvPr/>
        </p:nvSpPr>
        <p:spPr>
          <a:xfrm>
            <a:off x="411480" y="2240280"/>
            <a:ext cx="15084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Hinzufügen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5" name="Text 6"/>
          <p:cNvSpPr/>
          <p:nvPr/>
        </p:nvSpPr>
        <p:spPr>
          <a:xfrm>
            <a:off x="484560" y="2743200"/>
            <a:ext cx="1371240" cy="17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Standort oder Gerät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Erstellen und als Datensatz hinzufügen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6" name="Shape 7"/>
          <p:cNvSpPr/>
          <p:nvPr/>
        </p:nvSpPr>
        <p:spPr>
          <a:xfrm>
            <a:off x="2084760" y="1188720"/>
            <a:ext cx="1508400" cy="35658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600">
            <a:solidFill>
              <a:srgbClr val="DADC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7" name="Shape 8"/>
          <p:cNvSpPr/>
          <p:nvPr/>
        </p:nvSpPr>
        <p:spPr>
          <a:xfrm>
            <a:off x="2496240" y="1371600"/>
            <a:ext cx="685440" cy="685440"/>
          </a:xfrm>
          <a:prstGeom prst="ellipse">
            <a:avLst/>
          </a:prstGeom>
          <a:solidFill>
            <a:srgbClr val="4A90D9"/>
          </a:solidFill>
          <a:ln w="12600">
            <a:solidFill>
              <a:srgbClr val="4A90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68" name="Text 9"/>
          <p:cNvSpPr/>
          <p:nvPr/>
        </p:nvSpPr>
        <p:spPr>
          <a:xfrm>
            <a:off x="2496240" y="137160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9" name="Text 10"/>
          <p:cNvSpPr/>
          <p:nvPr/>
        </p:nvSpPr>
        <p:spPr>
          <a:xfrm>
            <a:off x="2084760" y="2240280"/>
            <a:ext cx="15084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Anzeigen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0" name="Text 11"/>
          <p:cNvSpPr/>
          <p:nvPr/>
        </p:nvSpPr>
        <p:spPr>
          <a:xfrm>
            <a:off x="2157840" y="2743200"/>
            <a:ext cx="1371240" cy="17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Alle Einträge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tabellarisch ausgeben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1" name="Shape 12"/>
          <p:cNvSpPr/>
          <p:nvPr/>
        </p:nvSpPr>
        <p:spPr>
          <a:xfrm>
            <a:off x="3758040" y="1188720"/>
            <a:ext cx="1508400" cy="35658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600">
            <a:solidFill>
              <a:srgbClr val="DADC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2" name="Shape 13"/>
          <p:cNvSpPr/>
          <p:nvPr/>
        </p:nvSpPr>
        <p:spPr>
          <a:xfrm>
            <a:off x="4169520" y="1371600"/>
            <a:ext cx="685440" cy="685440"/>
          </a:xfrm>
          <a:prstGeom prst="ellipse">
            <a:avLst/>
          </a:prstGeom>
          <a:solidFill>
            <a:srgbClr val="4A90D9"/>
          </a:solidFill>
          <a:ln w="12600">
            <a:solidFill>
              <a:srgbClr val="4A90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73" name="Text 14"/>
          <p:cNvSpPr/>
          <p:nvPr/>
        </p:nvSpPr>
        <p:spPr>
          <a:xfrm>
            <a:off x="4169520" y="137160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4" name="Text 15"/>
          <p:cNvSpPr/>
          <p:nvPr/>
        </p:nvSpPr>
        <p:spPr>
          <a:xfrm>
            <a:off x="3758040" y="2240280"/>
            <a:ext cx="15084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Suchen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5" name="Text 16"/>
          <p:cNvSpPr/>
          <p:nvPr/>
        </p:nvSpPr>
        <p:spPr>
          <a:xfrm>
            <a:off x="3831480" y="2743200"/>
            <a:ext cx="1371240" cy="17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Exakte Suche nach ID,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Kürzel, Status, usw.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6" name="Shape 17"/>
          <p:cNvSpPr/>
          <p:nvPr/>
        </p:nvSpPr>
        <p:spPr>
          <a:xfrm>
            <a:off x="5431680" y="1188720"/>
            <a:ext cx="1508400" cy="35658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600">
            <a:solidFill>
              <a:srgbClr val="DADC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7" name="Shape 18"/>
          <p:cNvSpPr/>
          <p:nvPr/>
        </p:nvSpPr>
        <p:spPr>
          <a:xfrm>
            <a:off x="5843160" y="1371600"/>
            <a:ext cx="685440" cy="685440"/>
          </a:xfrm>
          <a:prstGeom prst="ellipse">
            <a:avLst/>
          </a:prstGeom>
          <a:solidFill>
            <a:srgbClr val="4A90D9"/>
          </a:solidFill>
          <a:ln w="12600">
            <a:solidFill>
              <a:srgbClr val="4A90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78" name="Text 19"/>
          <p:cNvSpPr/>
          <p:nvPr/>
        </p:nvSpPr>
        <p:spPr>
          <a:xfrm>
            <a:off x="5843160" y="137160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9" name="Text 20"/>
          <p:cNvSpPr/>
          <p:nvPr/>
        </p:nvSpPr>
        <p:spPr>
          <a:xfrm>
            <a:off x="5431680" y="2240280"/>
            <a:ext cx="15084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Bearbeiten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0" name="Text 21"/>
          <p:cNvSpPr/>
          <p:nvPr/>
        </p:nvSpPr>
        <p:spPr>
          <a:xfrm>
            <a:off x="5504760" y="2743200"/>
            <a:ext cx="1371240" cy="17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Felder einzeln ändern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1" name="Shape 22"/>
          <p:cNvSpPr/>
          <p:nvPr/>
        </p:nvSpPr>
        <p:spPr>
          <a:xfrm>
            <a:off x="7104960" y="1188720"/>
            <a:ext cx="1508400" cy="35658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600">
            <a:solidFill>
              <a:srgbClr val="DADC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2" name="Shape 23"/>
          <p:cNvSpPr/>
          <p:nvPr/>
        </p:nvSpPr>
        <p:spPr>
          <a:xfrm>
            <a:off x="7516440" y="1371600"/>
            <a:ext cx="685440" cy="685440"/>
          </a:xfrm>
          <a:prstGeom prst="ellipse">
            <a:avLst/>
          </a:prstGeom>
          <a:solidFill>
            <a:srgbClr val="4A90D9"/>
          </a:solidFill>
          <a:ln w="12600">
            <a:solidFill>
              <a:srgbClr val="4A90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83" name="Text 24"/>
          <p:cNvSpPr/>
          <p:nvPr/>
        </p:nvSpPr>
        <p:spPr>
          <a:xfrm>
            <a:off x="7516440" y="137160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4" name="Text 25"/>
          <p:cNvSpPr/>
          <p:nvPr/>
        </p:nvSpPr>
        <p:spPr>
          <a:xfrm>
            <a:off x="7104960" y="2240280"/>
            <a:ext cx="15084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Löschen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5" name="Text 26"/>
          <p:cNvSpPr/>
          <p:nvPr/>
        </p:nvSpPr>
        <p:spPr>
          <a:xfrm>
            <a:off x="7178040" y="2743200"/>
            <a:ext cx="1371240" cy="17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Eintrag mit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einer Bestätigung</a:t>
            </a:r>
            <a:br>
              <a:rPr sz="1100"/>
            </a:b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entfernen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0"/>
          <p:cNvSpPr/>
          <p:nvPr/>
        </p:nvSpPr>
        <p:spPr>
          <a:xfrm>
            <a:off x="731520" y="320040"/>
            <a:ext cx="76806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Live-Demo</a:t>
            </a:r>
            <a:endParaRPr lang="de-DE" sz="3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87" name="Shape 1"/>
          <p:cNvSpPr/>
          <p:nvPr/>
        </p:nvSpPr>
        <p:spPr>
          <a:xfrm>
            <a:off x="731520" y="1005840"/>
            <a:ext cx="7680960" cy="360"/>
          </a:xfrm>
          <a:prstGeom prst="line">
            <a:avLst/>
          </a:prstGeom>
          <a:ln w="25560">
            <a:solidFill>
              <a:srgbClr val="4A90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88" name="Shape 2"/>
          <p:cNvSpPr/>
          <p:nvPr/>
        </p:nvSpPr>
        <p:spPr>
          <a:xfrm>
            <a:off x="731520" y="1234440"/>
            <a:ext cx="383760" cy="383760"/>
          </a:xfrm>
          <a:prstGeom prst="ellipse">
            <a:avLst/>
          </a:prstGeom>
          <a:solidFill>
            <a:srgbClr val="4A90D9"/>
          </a:solidFill>
          <a:ln w="12600">
            <a:solidFill>
              <a:srgbClr val="4A90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89" name="Text 3"/>
          <p:cNvSpPr/>
          <p:nvPr/>
        </p:nvSpPr>
        <p:spPr>
          <a:xfrm>
            <a:off x="731520" y="12344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de-DE" sz="1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0" name="Text 4"/>
          <p:cNvSpPr/>
          <p:nvPr/>
        </p:nvSpPr>
        <p:spPr>
          <a:xfrm>
            <a:off x="1280160" y="1188720"/>
            <a:ext cx="6857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8EEF7"/>
                </a:solidFill>
                <a:effectLst/>
                <a:uFillTx/>
                <a:latin typeface="Calibri"/>
                <a:ea typeface="Calibri"/>
              </a:rPr>
              <a:t>Gesamte Datenbank anzeigen lassen.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1" name="Shape 5"/>
          <p:cNvSpPr/>
          <p:nvPr/>
        </p:nvSpPr>
        <p:spPr>
          <a:xfrm>
            <a:off x="731520" y="1856160"/>
            <a:ext cx="383760" cy="383760"/>
          </a:xfrm>
          <a:prstGeom prst="ellipse">
            <a:avLst/>
          </a:prstGeom>
          <a:solidFill>
            <a:srgbClr val="4A90D9"/>
          </a:solidFill>
          <a:ln w="12600">
            <a:solidFill>
              <a:srgbClr val="4A90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2" name="Text 6"/>
          <p:cNvSpPr/>
          <p:nvPr/>
        </p:nvSpPr>
        <p:spPr>
          <a:xfrm>
            <a:off x="731520" y="1856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de-DE" sz="1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3" name="Text 7"/>
          <p:cNvSpPr/>
          <p:nvPr/>
        </p:nvSpPr>
        <p:spPr>
          <a:xfrm>
            <a:off x="1280160" y="1810440"/>
            <a:ext cx="6857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8EEF7"/>
                </a:solidFill>
                <a:effectLst/>
                <a:uFillTx/>
                <a:latin typeface="Calibri"/>
                <a:ea typeface="Calibri"/>
              </a:rPr>
              <a:t>Gerät hinzufügen, mit Valedirungs Tests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4" name="Shape 8"/>
          <p:cNvSpPr/>
          <p:nvPr/>
        </p:nvSpPr>
        <p:spPr>
          <a:xfrm>
            <a:off x="731520" y="2477880"/>
            <a:ext cx="383760" cy="383760"/>
          </a:xfrm>
          <a:prstGeom prst="ellipse">
            <a:avLst/>
          </a:prstGeom>
          <a:solidFill>
            <a:srgbClr val="4A90D9"/>
          </a:solidFill>
          <a:ln w="12600">
            <a:solidFill>
              <a:srgbClr val="4A90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5" name="Text 9"/>
          <p:cNvSpPr/>
          <p:nvPr/>
        </p:nvSpPr>
        <p:spPr>
          <a:xfrm>
            <a:off x="731520" y="2477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de-DE" sz="1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6" name="Text 10"/>
          <p:cNvSpPr/>
          <p:nvPr/>
        </p:nvSpPr>
        <p:spPr>
          <a:xfrm>
            <a:off x="1280160" y="2432160"/>
            <a:ext cx="6857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8EEF7"/>
                </a:solidFill>
                <a:effectLst/>
                <a:uFillTx/>
                <a:latin typeface="Calibri"/>
                <a:ea typeface="Calibri"/>
              </a:rPr>
              <a:t>Nach dem Gerät suchen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7" name="Shape 11"/>
          <p:cNvSpPr/>
          <p:nvPr/>
        </p:nvSpPr>
        <p:spPr>
          <a:xfrm>
            <a:off x="731520" y="3099960"/>
            <a:ext cx="383760" cy="383760"/>
          </a:xfrm>
          <a:prstGeom prst="ellipse">
            <a:avLst/>
          </a:prstGeom>
          <a:solidFill>
            <a:srgbClr val="4A90D9"/>
          </a:solidFill>
          <a:ln w="12600">
            <a:solidFill>
              <a:srgbClr val="4A90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8" name="Text 12"/>
          <p:cNvSpPr/>
          <p:nvPr/>
        </p:nvSpPr>
        <p:spPr>
          <a:xfrm>
            <a:off x="731520" y="30999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de-DE" sz="1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9" name="Text 13"/>
          <p:cNvSpPr/>
          <p:nvPr/>
        </p:nvSpPr>
        <p:spPr>
          <a:xfrm>
            <a:off x="1280160" y="3054240"/>
            <a:ext cx="6857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8EEF7"/>
                </a:solidFill>
                <a:effectLst/>
                <a:uFillTx/>
                <a:latin typeface="Calibri"/>
                <a:ea typeface="Calibri"/>
              </a:rPr>
              <a:t>Das Gerät bearbeiten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00" name="Shape 14"/>
          <p:cNvSpPr/>
          <p:nvPr/>
        </p:nvSpPr>
        <p:spPr>
          <a:xfrm>
            <a:off x="731520" y="3721680"/>
            <a:ext cx="383760" cy="383760"/>
          </a:xfrm>
          <a:prstGeom prst="ellipse">
            <a:avLst/>
          </a:prstGeom>
          <a:solidFill>
            <a:srgbClr val="4A90D9"/>
          </a:solidFill>
          <a:ln w="12600">
            <a:solidFill>
              <a:srgbClr val="4A90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01" name="Text 15"/>
          <p:cNvSpPr/>
          <p:nvPr/>
        </p:nvSpPr>
        <p:spPr>
          <a:xfrm>
            <a:off x="731520" y="37216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de-DE" sz="1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02" name="Text 16"/>
          <p:cNvSpPr/>
          <p:nvPr/>
        </p:nvSpPr>
        <p:spPr>
          <a:xfrm>
            <a:off x="1280160" y="3675960"/>
            <a:ext cx="6857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8EEF7"/>
                </a:solidFill>
                <a:effectLst/>
                <a:uFillTx/>
                <a:latin typeface="Calibri"/>
                <a:ea typeface="Calibri"/>
              </a:rPr>
              <a:t>Datensatz löschen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03" name="Shape 17"/>
          <p:cNvSpPr/>
          <p:nvPr/>
        </p:nvSpPr>
        <p:spPr>
          <a:xfrm>
            <a:off x="731520" y="4343400"/>
            <a:ext cx="383760" cy="383760"/>
          </a:xfrm>
          <a:prstGeom prst="ellipse">
            <a:avLst/>
          </a:prstGeom>
          <a:solidFill>
            <a:srgbClr val="4A90D9"/>
          </a:solidFill>
          <a:ln w="12600">
            <a:solidFill>
              <a:srgbClr val="4A90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04" name="Text 18"/>
          <p:cNvSpPr/>
          <p:nvPr/>
        </p:nvSpPr>
        <p:spPr>
          <a:xfrm>
            <a:off x="731520" y="4343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de-DE" sz="1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05" name="Text 19"/>
          <p:cNvSpPr/>
          <p:nvPr/>
        </p:nvSpPr>
        <p:spPr>
          <a:xfrm>
            <a:off x="1280160" y="4297680"/>
            <a:ext cx="6857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8EEF7"/>
                </a:solidFill>
                <a:effectLst/>
                <a:uFillTx/>
                <a:latin typeface="Calibri"/>
                <a:ea typeface="Calibri"/>
              </a:rPr>
              <a:t>Das gleiche mit dem Standort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0"/>
          <p:cNvSpPr/>
          <p:nvPr/>
        </p:nvSpPr>
        <p:spPr>
          <a:xfrm>
            <a:off x="548640" y="32004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Einschränkungen &amp; Vorteile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7" name="Shape 1"/>
          <p:cNvSpPr/>
          <p:nvPr/>
        </p:nvSpPr>
        <p:spPr>
          <a:xfrm>
            <a:off x="548640" y="1005840"/>
            <a:ext cx="8046720" cy="360"/>
          </a:xfrm>
          <a:prstGeom prst="line">
            <a:avLst/>
          </a:prstGeom>
          <a:ln w="25560">
            <a:solidFill>
              <a:srgbClr val="4A90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8" name="Shape 2"/>
          <p:cNvSpPr/>
          <p:nvPr/>
        </p:nvSpPr>
        <p:spPr>
          <a:xfrm>
            <a:off x="457200" y="1188720"/>
            <a:ext cx="3931560" cy="35658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600">
            <a:solidFill>
              <a:srgbClr val="DADC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9" name="Text 3"/>
          <p:cNvSpPr/>
          <p:nvPr/>
        </p:nvSpPr>
        <p:spPr>
          <a:xfrm>
            <a:off x="457200" y="1261800"/>
            <a:ext cx="39315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Einschränkung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0" name="Text 4"/>
          <p:cNvSpPr/>
          <p:nvPr/>
        </p:nvSpPr>
        <p:spPr>
          <a:xfrm>
            <a:off x="640080" y="1783080"/>
            <a:ext cx="356580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Nur Exakte Suche, also keine Teilsuche.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Standort änderungen werden nicht direkt auf Geräte übertragen.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Keine sortierte Anzeige.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Keine Authentifizierung z.B. durch Benutzer Accounts.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match/case nur ab Python 3.10 verfügbar.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1" name="Shape 5"/>
          <p:cNvSpPr/>
          <p:nvPr/>
        </p:nvSpPr>
        <p:spPr>
          <a:xfrm>
            <a:off x="4754880" y="1188720"/>
            <a:ext cx="3931560" cy="3565800"/>
          </a:xfrm>
          <a:prstGeom prst="roundRect">
            <a:avLst>
              <a:gd name="adj" fmla="val 2564"/>
            </a:avLst>
          </a:prstGeom>
          <a:solidFill>
            <a:srgbClr val="2C3E6B"/>
          </a:solidFill>
          <a:ln w="12600">
            <a:solidFill>
              <a:srgbClr val="2C3E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2" name="Text 6"/>
          <p:cNvSpPr/>
          <p:nvPr/>
        </p:nvSpPr>
        <p:spPr>
          <a:xfrm>
            <a:off x="4754880" y="1261800"/>
            <a:ext cx="39315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Vorteile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3" name="Text 7"/>
          <p:cNvSpPr/>
          <p:nvPr/>
        </p:nvSpPr>
        <p:spPr>
          <a:xfrm>
            <a:off x="4937760" y="1783080"/>
            <a:ext cx="356580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E8EEF7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EF7"/>
                </a:solidFill>
                <a:effectLst/>
                <a:uFillTx/>
                <a:latin typeface="Calibri"/>
                <a:ea typeface="Calibri"/>
              </a:rPr>
              <a:t>Simpel gehaltener Code für einfache Wartung.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E8EEF7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EF7"/>
                </a:solidFill>
                <a:effectLst/>
                <a:uFillTx/>
                <a:latin typeface="Calibri"/>
                <a:ea typeface="Calibri"/>
              </a:rPr>
              <a:t>Erweiterbar durch weitere Tabellen und Attribute.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E8EEF7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EF7"/>
                </a:solidFill>
                <a:effectLst/>
                <a:uFillTx/>
                <a:latin typeface="Calibri"/>
                <a:ea typeface="Calibri"/>
              </a:rPr>
              <a:t>Modularität.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E8EEF7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EF7"/>
                </a:solidFill>
                <a:effectLst/>
                <a:uFillTx/>
                <a:latin typeface="Calibri"/>
                <a:ea typeface="Calibri"/>
              </a:rPr>
              <a:t>Eingabe validierungen.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27"/>
          <p:cNvSpPr/>
          <p:nvPr/>
        </p:nvSpPr>
        <p:spPr>
          <a:xfrm>
            <a:off x="548640" y="32004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Zukunft &amp; Wartung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5" name="Shape 16"/>
          <p:cNvSpPr/>
          <p:nvPr/>
        </p:nvSpPr>
        <p:spPr>
          <a:xfrm>
            <a:off x="548640" y="1005840"/>
            <a:ext cx="8046720" cy="360"/>
          </a:xfrm>
          <a:prstGeom prst="line">
            <a:avLst/>
          </a:prstGeom>
          <a:ln w="25560">
            <a:solidFill>
              <a:srgbClr val="4A90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6" name="Shape 19"/>
          <p:cNvSpPr/>
          <p:nvPr/>
        </p:nvSpPr>
        <p:spPr>
          <a:xfrm>
            <a:off x="457200" y="1188720"/>
            <a:ext cx="5662800" cy="35658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600">
            <a:solidFill>
              <a:srgbClr val="DADC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7" name="Text 29"/>
          <p:cNvSpPr/>
          <p:nvPr/>
        </p:nvSpPr>
        <p:spPr>
          <a:xfrm>
            <a:off x="640080" y="1783080"/>
            <a:ext cx="763992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1A1A2E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Ergänzung durch weitere Tabellen, wie z.B Mitarbeiter 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1A1A2E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Erweiterung von Attributen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1A1A2E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Authentifizierungen durch Benutzer Accounts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 28"/>
          <p:cNvSpPr/>
          <p:nvPr/>
        </p:nvSpPr>
        <p:spPr>
          <a:xfrm>
            <a:off x="548640" y="32004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Zukunft &amp; Wartung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9" name="Shape 20"/>
          <p:cNvSpPr/>
          <p:nvPr/>
        </p:nvSpPr>
        <p:spPr>
          <a:xfrm>
            <a:off x="548640" y="1005840"/>
            <a:ext cx="8046720" cy="360"/>
          </a:xfrm>
          <a:prstGeom prst="line">
            <a:avLst/>
          </a:prstGeom>
          <a:ln w="25560">
            <a:solidFill>
              <a:srgbClr val="4A90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0" name="Shape 21"/>
          <p:cNvSpPr/>
          <p:nvPr/>
        </p:nvSpPr>
        <p:spPr>
          <a:xfrm>
            <a:off x="457200" y="1188720"/>
            <a:ext cx="5662800" cy="35658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600">
            <a:solidFill>
              <a:srgbClr val="DADC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1" name="Text 30"/>
          <p:cNvSpPr/>
          <p:nvPr/>
        </p:nvSpPr>
        <p:spPr>
          <a:xfrm>
            <a:off x="640080" y="1783080"/>
            <a:ext cx="763992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1A1A2E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Ergänzung durch weitere Tabellen, wie z.B Mitarbeiter 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Noto Sans"/>
              <a:ea typeface="Noto San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1A1A2E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Erweiterung von Attributen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Noto Sans"/>
              <a:ea typeface="Noto San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1A1A2E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Authentifizierungen durch Benutzer Accounts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Noto Sans"/>
              <a:ea typeface="Noto Sans"/>
            </a:endParaRPr>
          </a:p>
        </p:txBody>
      </p:sp>
      <p:pic>
        <p:nvPicPr>
          <p:cNvPr id="122" name="Grafik 121"/>
          <p:cNvPicPr/>
          <p:nvPr/>
        </p:nvPicPr>
        <p:blipFill>
          <a:blip r:embed="rId3"/>
          <a:srcRect l="21865" t="7555" r="8151"/>
          <a:stretch/>
        </p:blipFill>
        <p:spPr>
          <a:xfrm rot="5400000">
            <a:off x="5832000" y="1908000"/>
            <a:ext cx="3455640" cy="21600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 0"/>
          <p:cNvSpPr/>
          <p:nvPr/>
        </p:nvSpPr>
        <p:spPr>
          <a:xfrm>
            <a:off x="731520" y="457200"/>
            <a:ext cx="768060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Fazit</a:t>
            </a:r>
            <a:endParaRPr lang="de-DE" sz="3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24" name="Shape 1"/>
          <p:cNvSpPr/>
          <p:nvPr/>
        </p:nvSpPr>
        <p:spPr>
          <a:xfrm>
            <a:off x="731520" y="1298160"/>
            <a:ext cx="7680960" cy="360"/>
          </a:xfrm>
          <a:prstGeom prst="line">
            <a:avLst/>
          </a:prstGeom>
          <a:ln w="25560">
            <a:solidFill>
              <a:srgbClr val="4A90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25" name="Text 2"/>
          <p:cNvSpPr/>
          <p:nvPr/>
        </p:nvSpPr>
        <p:spPr>
          <a:xfrm>
            <a:off x="731520" y="1463040"/>
            <a:ext cx="768060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8EEF7"/>
                </a:solidFill>
                <a:effectLst/>
                <a:uFillTx/>
                <a:latin typeface="Calibri"/>
                <a:ea typeface="Calibri"/>
              </a:rPr>
              <a:t>GerMan ist eine simple und kompetente Lösung von Hardware Verwaltungs Problemen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26" name="Text 3"/>
          <p:cNvSpPr/>
          <p:nvPr/>
        </p:nvSpPr>
        <p:spPr>
          <a:xfrm>
            <a:off x="731520" y="2874600"/>
            <a:ext cx="7680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Adrian – Eliano - Daniel</a:t>
            </a:r>
            <a:endParaRPr lang="de-DE" sz="1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27" name="Text 5"/>
          <p:cNvSpPr/>
          <p:nvPr/>
        </p:nvSpPr>
        <p:spPr>
          <a:xfrm>
            <a:off x="731520" y="4389120"/>
            <a:ext cx="76806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4A90D9"/>
                </a:solidFill>
                <a:effectLst/>
                <a:uFillTx/>
                <a:latin typeface="Calibri"/>
                <a:ea typeface="Calibri"/>
              </a:rPr>
              <a:t>Danke für die Aufmerksamkeit!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444</Words>
  <Application>Microsoft Office PowerPoint</Application>
  <PresentationFormat>Bildschirmpräsentation (16:9)</PresentationFormat>
  <Paragraphs>103</Paragraphs>
  <Slides>10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7" baseType="lpstr">
      <vt:lpstr>Arial</vt:lpstr>
      <vt:lpstr>Calibri</vt:lpstr>
      <vt:lpstr>Noto Sans</vt:lpstr>
      <vt:lpstr>Noto Serif</vt:lpstr>
      <vt:lpstr>Symbol</vt:lpstr>
      <vt:lpstr>Wingdings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Hardware Datenbank</dc:title>
  <dc:subject>PptxGenJS Presentation</dc:subject>
  <dc:creator>PptxGenJS</dc:creator>
  <dc:description/>
  <cp:lastModifiedBy>Adrian Obergfell</cp:lastModifiedBy>
  <cp:revision>16</cp:revision>
  <dcterms:created xsi:type="dcterms:W3CDTF">2026-06-28T22:12:03Z</dcterms:created>
  <dcterms:modified xsi:type="dcterms:W3CDTF">2026-06-29T21:17:16Z</dcterms:modified>
  <dc:language>de-DE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8</vt:r8>
  </property>
  <property fmtid="{D5CDD505-2E9C-101B-9397-08002B2CF9AE}" pid="3" name="PresentationFormat">
    <vt:lpwstr>On-screen Show (16:9)</vt:lpwstr>
  </property>
  <property fmtid="{D5CDD505-2E9C-101B-9397-08002B2CF9AE}" pid="4" name="Slides">
    <vt:r8>8</vt:r8>
  </property>
</Properties>
</file>